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8" Type="http://schemas.openxmlformats.org/officeDocument/2006/relationships/viewProps" Target="viewProps.xml" /><Relationship Id="rId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0" Type="http://schemas.openxmlformats.org/officeDocument/2006/relationships/tableStyles" Target="tableStyles.xml" /><Relationship Id="rId9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Ongoing Housing Stress and Cognitive Functions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EP808 E2 seminar presentation</a:t>
            </a:r>
            <a:br/>
            <a:br/>
            <a:r>
              <a:rPr/>
              <a:t>Takashi Iida, MD, MPH(c)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2026-02-12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Background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Ongoing Housing Stress</a:t>
            </a:r>
          </a:p>
          <a:p>
            <a:pPr lvl="0"/>
            <a:r>
              <a:rPr/>
              <a:t>Housing is a major pathway through which health disparities emerge and are sustained over time (Swope and Hernández 2019)</a:t>
            </a:r>
          </a:p>
          <a:p>
            <a:pPr lvl="0"/>
            <a:r>
              <a:rPr/>
              <a:t>771,480 people experienced homelessness in the U.S. (Sousa and Henry 2024)</a:t>
            </a:r>
          </a:p>
          <a:p>
            <a:pPr lvl="0" indent="0" marL="0">
              <a:buNone/>
            </a:pP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Cognitive Domains of Interest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Episodic Memory</a:t>
            </a:r>
          </a:p>
          <a:p>
            <a:pPr lvl="0"/>
            <a:r>
              <a:rPr/>
              <a:t>Verbal episodic memory shows high predictive accuracy (&gt;0.7)</a:t>
            </a:r>
          </a:p>
          <a:p>
            <a:pPr lvl="0"/>
            <a:r>
              <a:rPr/>
              <a:t>High sensitivity and specificity (≥80%) for AD identification (Weissberger et al. 2017)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Working Memory</a:t>
            </a:r>
          </a:p>
          <a:p>
            <a:pPr lvl="0"/>
            <a:r>
              <a:rPr/>
              <a:t>Working memory deficits are a recognized feature of AD</a:t>
            </a:r>
          </a:p>
          <a:p>
            <a:pPr lvl="0"/>
            <a:r>
              <a:rPr/>
              <a:t>Related to frontal lobe dysfunction (Stopford et al. 2012)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Does This Issue Matter?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Housing Instability Implications</a:t>
            </a:r>
          </a:p>
          <a:p>
            <a:pPr lvl="0"/>
            <a:r>
              <a:rPr/>
              <a:t>Foreclosure may endanger older adults’ memory (Kim and Schwartz 2024)</a:t>
            </a:r>
          </a:p>
          <a:p>
            <a:pPr lvl="0"/>
            <a:r>
              <a:rPr/>
              <a:t>Housing distress associated with increased risk of cognitive impairment (RR = 1.20) (Wilkinson et al. 2026)</a:t>
            </a:r>
          </a:p>
          <a:p>
            <a:pPr lvl="0" indent="0" marL="0">
              <a:buNone/>
            </a:pP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Cognitive Function Implications</a:t>
            </a:r>
          </a:p>
          <a:p>
            <a:pPr lvl="0"/>
            <a:r>
              <a:rPr/>
              <a:t>Mid-life and late-life cognitive functions are associated with AD risks (Dhana et al. 2025)</a:t>
            </a:r>
          </a:p>
          <a:p>
            <a:pPr lvl="0"/>
            <a:r>
              <a:rPr/>
              <a:t>MCI patients have 10-fold higher risk of progressing to dementia (Belleville et al. 2017)</a:t>
            </a:r>
          </a:p>
          <a:p>
            <a:pPr lvl="0" indent="0" marL="0">
              <a:buNone/>
            </a:pPr>
          </a:p>
          <a:p>
            <a:pPr lvl="0" indent="0" marL="1270000">
              <a:buNone/>
            </a:pPr>
            <a:r>
              <a:rPr sz="2000" b="1"/>
              <a:t>What Don’t We Know?</a:t>
            </a:r>
          </a:p>
          <a:p>
            <a:pPr lvl="0"/>
            <a:r>
              <a:rPr sz="2000"/>
              <a:t>Causal effect of housing stress on cognitive decline is not well established</a:t>
            </a:r>
          </a:p>
          <a:p>
            <a:pPr lvl="0"/>
            <a:r>
              <a:rPr sz="2000"/>
              <a:t>Few studies have investigated detailed cognitive assessments: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Research 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This research question is examining: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The average causal effect of ongoing housing stress on multiple cognitive domains(</a:t>
            </a:r>
            <a:r>
              <a:rPr b="1"/>
              <a:t>Episodic Memory</a:t>
            </a:r>
            <a:r>
              <a:rPr/>
              <a:t> and </a:t>
            </a:r>
            <a:r>
              <a:rPr b="1"/>
              <a:t>Working Memory</a:t>
            </a:r>
            <a:r>
              <a:rPr/>
              <a:t>) among adults aged 50 and older in the United States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Ongoing Housing Stress and Cognitive Functions</dc:title>
  <dc:creator>Takashi Iida, MD, MPH(c)</dc:creator>
  <cp:keywords/>
  <dcterms:created xsi:type="dcterms:W3CDTF">2026-02-09T00:24:41Z</dcterms:created>
  <dcterms:modified xsi:type="dcterms:W3CDTF">2026-02-09T00:24:41Z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ibliography">
    <vt:lpwstr>references.bib</vt:lpwstr>
  </property>
  <property fmtid="{D5CDD505-2E9C-101B-9397-08002B2CF9AE}" pid="5" name="by-author">
    <vt:lpwstr/>
  </property>
  <property fmtid="{D5CDD505-2E9C-101B-9397-08002B2CF9AE}" pid="6" name="date">
    <vt:lpwstr>2026-02-12</vt:lpwstr>
  </property>
  <property fmtid="{D5CDD505-2E9C-101B-9397-08002B2CF9AE}" pid="7" name="header-includes">
    <vt:lpwstr/>
  </property>
  <property fmtid="{D5CDD505-2E9C-101B-9397-08002B2CF9AE}" pid="8" name="include-after">
    <vt:lpwstr/>
  </property>
  <property fmtid="{D5CDD505-2E9C-101B-9397-08002B2CF9AE}" pid="9" name="include-before">
    <vt:lpwstr/>
  </property>
  <property fmtid="{D5CDD505-2E9C-101B-9397-08002B2CF9AE}" pid="10" name="labels">
    <vt:lpwstr/>
  </property>
  <property fmtid="{D5CDD505-2E9C-101B-9397-08002B2CF9AE}" pid="11" name="link-citations">
    <vt:lpwstr>False</vt:lpwstr>
  </property>
  <property fmtid="{D5CDD505-2E9C-101B-9397-08002B2CF9AE}" pid="12" name="subtitle">
    <vt:lpwstr>EP808 E2 seminar presentation</vt:lpwstr>
  </property>
  <property fmtid="{D5CDD505-2E9C-101B-9397-08002B2CF9AE}" pid="13" name="suppress-bibliography">
    <vt:lpwstr>True</vt:lpwstr>
  </property>
  <property fmtid="{D5CDD505-2E9C-101B-9397-08002B2CF9AE}" pid="14" name="toc-title">
    <vt:lpwstr>Table of contents</vt:lpwstr>
  </property>
</Properties>
</file>